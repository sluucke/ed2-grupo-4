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Neue Machina" charset="1" panose="00000500000000000000"/>
      <p:regular r:id="rId22"/>
    </p:embeddedFont>
    <p:embeddedFont>
      <p:font typeface="Open Sans" charset="1" panose="020B0606030504020204"/>
      <p:regular r:id="rId23"/>
    </p:embeddedFont>
    <p:embeddedFont>
      <p:font typeface="Neue Machina Light" charset="1" panose="00000400000000000000"/>
      <p:regular r:id="rId24"/>
    </p:embeddedFont>
    <p:embeddedFont>
      <p:font typeface="Open Sans Bold" charset="1" panose="020B0806030504020204"/>
      <p:regular r:id="rId25"/>
    </p:embeddedFont>
    <p:embeddedFont>
      <p:font typeface="Open Sans Light" charset="1" panose="020B0306030504020204"/>
      <p:regular r:id="rId26"/>
    </p:embeddedFont>
    <p:embeddedFont>
      <p:font typeface="Neue Machina Ultra-Bold" charset="1" panose="00000900000000000000"/>
      <p:regular r:id="rId27"/>
    </p:embeddedFont>
    <p:embeddedFont>
      <p:font typeface="Open Sans Bold Italics" charset="1" panose="020B0806030504020204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6.jpeg" Type="http://schemas.openxmlformats.org/officeDocument/2006/relationships/image"/><Relationship Id="rId6" Target="../media/image7.jpeg" Type="http://schemas.openxmlformats.org/officeDocument/2006/relationships/image"/><Relationship Id="rId7" Target="../media/image8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0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0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0.jpe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0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image2.jpe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image2.jpe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image2.jpeg" Type="http://schemas.openxmlformats.org/officeDocument/2006/relationships/image"/><Relationship Id="rId4" Target="../media/image17.png" Type="http://schemas.openxmlformats.org/officeDocument/2006/relationships/image"/><Relationship Id="rId5" Target="https://jornal.unesp.br/2026/05/13/novos-frascos-o-mesmo-odor-minerais-criticos-governanca-criminal-e-os-paradoxos-da-transicao-energetica/" TargetMode="External" Type="http://schemas.openxmlformats.org/officeDocument/2006/relationships/hyperlink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0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0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4255406" cy="10287000"/>
            <a:chOff x="0" y="0"/>
            <a:chExt cx="3754510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754510" cy="2709333"/>
            </a:xfrm>
            <a:custGeom>
              <a:avLst/>
              <a:gdLst/>
              <a:ahLst/>
              <a:cxnLst/>
              <a:rect r="r" b="b" t="t" l="l"/>
              <a:pathLst>
                <a:path h="2709333" w="3754510">
                  <a:moveTo>
                    <a:pt x="0" y="0"/>
                  </a:moveTo>
                  <a:lnTo>
                    <a:pt x="3754510" y="0"/>
                  </a:lnTo>
                  <a:lnTo>
                    <a:pt x="3754510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7D4082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754510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993141" y="2644577"/>
            <a:ext cx="11305346" cy="4703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88"/>
              </a:lnSpc>
            </a:pPr>
            <a:r>
              <a:rPr lang="en-US" sz="11949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Grupo 4 - </a:t>
            </a:r>
          </a:p>
          <a:p>
            <a:pPr algn="l">
              <a:lnSpc>
                <a:spcPts val="12188"/>
              </a:lnSpc>
            </a:pPr>
            <a:r>
              <a:rPr lang="en-US" sz="11949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Geração de titulos 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5330843" y="8806454"/>
            <a:ext cx="2957157" cy="1480546"/>
          </a:xfrm>
          <a:custGeom>
            <a:avLst/>
            <a:gdLst/>
            <a:ahLst/>
            <a:cxnLst/>
            <a:rect r="r" b="b" t="t" l="l"/>
            <a:pathLst>
              <a:path h="1480546" w="2957157">
                <a:moveTo>
                  <a:pt x="0" y="0"/>
                </a:moveTo>
                <a:lnTo>
                  <a:pt x="2957157" y="0"/>
                </a:lnTo>
                <a:lnTo>
                  <a:pt x="2957157" y="1480546"/>
                </a:lnTo>
                <a:lnTo>
                  <a:pt x="0" y="14805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83676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6179954"/>
            <a:ext cx="3078346" cy="3078346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2884" r="0" b="-2884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7604827" y="6179954"/>
            <a:ext cx="3078346" cy="307834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1136" t="0" r="-1136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4180954" y="6179954"/>
            <a:ext cx="3078346" cy="3078346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-82674" t="0" r="0" b="-36839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4284028" y="2590796"/>
            <a:ext cx="3078346" cy="3078346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923231" y="2590796"/>
            <a:ext cx="3078346" cy="3078346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/>
              <a:stretch>
                <a:fillRect l="0" t="-8016" r="0" b="-8016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5954470" y="669830"/>
            <a:ext cx="6379060" cy="1213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95"/>
              </a:lnSpc>
              <a:spcBef>
                <a:spcPct val="0"/>
              </a:spcBef>
            </a:pPr>
            <a:r>
              <a:rPr lang="en-US" sz="11226" spc="-976">
                <a:solidFill>
                  <a:srgbClr val="EDEDED"/>
                </a:solidFill>
                <a:latin typeface="Open Sans"/>
                <a:ea typeface="Open Sans"/>
                <a:cs typeface="Open Sans"/>
                <a:sym typeface="Open Sans"/>
              </a:rPr>
              <a:t>Integrantes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883220" y="5971631"/>
            <a:ext cx="1879961" cy="919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2"/>
              </a:lnSpc>
            </a:pPr>
            <a:r>
              <a:rPr lang="en-US" sz="3502">
                <a:solidFill>
                  <a:srgbClr val="EDEDED"/>
                </a:solidFill>
                <a:latin typeface="Neue Machina Light"/>
                <a:ea typeface="Neue Machina Light"/>
                <a:cs typeface="Neue Machina Light"/>
                <a:sym typeface="Neue Machina Light"/>
              </a:rPr>
              <a:t>David</a:t>
            </a:r>
          </a:p>
          <a:p>
            <a:pPr algn="ctr">
              <a:lnSpc>
                <a:spcPts val="3572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1681144" y="5931596"/>
            <a:ext cx="1879961" cy="470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2"/>
              </a:lnSpc>
              <a:spcBef>
                <a:spcPct val="0"/>
              </a:spcBef>
            </a:pPr>
            <a:r>
              <a:rPr lang="en-US" sz="3502">
                <a:solidFill>
                  <a:srgbClr val="EDEDED"/>
                </a:solidFill>
                <a:latin typeface="Neue Machina Light"/>
                <a:ea typeface="Neue Machina Light"/>
                <a:cs typeface="Neue Machina Light"/>
                <a:sym typeface="Neue Machina Light"/>
              </a:rPr>
              <a:t>Gabriel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50463" y="9522558"/>
            <a:ext cx="2034820" cy="470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2"/>
              </a:lnSpc>
              <a:spcBef>
                <a:spcPct val="0"/>
              </a:spcBef>
            </a:pPr>
            <a:r>
              <a:rPr lang="en-US" sz="3502">
                <a:solidFill>
                  <a:srgbClr val="EDEDED"/>
                </a:solidFill>
                <a:latin typeface="Neue Machina Light"/>
                <a:ea typeface="Neue Machina Light"/>
                <a:cs typeface="Neue Machina Light"/>
                <a:sym typeface="Neue Machina Light"/>
              </a:rPr>
              <a:t>Giovanni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204019" y="9522558"/>
            <a:ext cx="1879961" cy="470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2"/>
              </a:lnSpc>
              <a:spcBef>
                <a:spcPct val="0"/>
              </a:spcBef>
            </a:pPr>
            <a:r>
              <a:rPr lang="en-US" sz="3502">
                <a:solidFill>
                  <a:srgbClr val="EDEDED"/>
                </a:solidFill>
                <a:latin typeface="Neue Machina Light"/>
                <a:ea typeface="Neue Machina Light"/>
                <a:cs typeface="Neue Machina Light"/>
                <a:sym typeface="Neue Machina Light"/>
              </a:rPr>
              <a:t>Luan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099718" y="9522558"/>
            <a:ext cx="3240817" cy="470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2"/>
              </a:lnSpc>
              <a:spcBef>
                <a:spcPct val="0"/>
              </a:spcBef>
            </a:pPr>
            <a:r>
              <a:rPr lang="en-US" sz="3502">
                <a:solidFill>
                  <a:srgbClr val="EDEDED"/>
                </a:solidFill>
                <a:latin typeface="Neue Machina Light"/>
                <a:ea typeface="Neue Machina Light"/>
                <a:cs typeface="Neue Machina Light"/>
                <a:sym typeface="Neue Machina Light"/>
              </a:rPr>
              <a:t>Pedro Augusto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333" r="0" b="-8333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14479" y="607550"/>
            <a:ext cx="13859043" cy="287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61"/>
              </a:lnSpc>
            </a:pPr>
            <a:r>
              <a:rPr lang="en-US" sz="1094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Problema a ser resolvido: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214479" y="5210175"/>
            <a:ext cx="13859043" cy="2042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22"/>
              </a:lnSpc>
            </a:pPr>
            <a:r>
              <a:rPr lang="en-US" b="true" sz="3943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Escrever um título de notícia - exige identificar a informação mais central do texto — tarefa que consome tempo do jornalista e que pode ser automatizada.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5336816" y="8820589"/>
            <a:ext cx="2951184" cy="1466411"/>
          </a:xfrm>
          <a:custGeom>
            <a:avLst/>
            <a:gdLst/>
            <a:ahLst/>
            <a:cxnLst/>
            <a:rect r="r" b="b" t="t" l="l"/>
            <a:pathLst>
              <a:path h="1466411" w="2951184">
                <a:moveTo>
                  <a:pt x="0" y="0"/>
                </a:moveTo>
                <a:lnTo>
                  <a:pt x="2951184" y="0"/>
                </a:lnTo>
                <a:lnTo>
                  <a:pt x="2951184" y="1466411"/>
                </a:lnTo>
                <a:lnTo>
                  <a:pt x="0" y="14664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94123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8518" r="0" b="-6851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505208" y="525066"/>
            <a:ext cx="10630716" cy="287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61"/>
              </a:lnSpc>
            </a:pPr>
            <a:r>
              <a:rPr lang="en-US" sz="1094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Bibliotecas de PLN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87147" y="5293886"/>
            <a:ext cx="17513706" cy="181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Stopwords: </a:t>
            </a:r>
            <a:r>
              <a:rPr lang="en-US" sz="51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Retira as stopwords (artigos, preposições, conjunções e etc)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90916" y="7879782"/>
            <a:ext cx="17259300" cy="181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Stemming: </a:t>
            </a:r>
            <a:r>
              <a:rPr lang="en-US" sz="51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Retira prefixos e sufixos das palavras, deixando somente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172826" y="3266440"/>
            <a:ext cx="7942348" cy="3658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Utilizamos nltk e spacy para</a:t>
            </a:r>
          </a:p>
          <a:p>
            <a:pPr algn="ctr">
              <a:lnSpc>
                <a:spcPts val="7279"/>
              </a:lnSpc>
            </a:pPr>
          </a:p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5330843" y="8806454"/>
            <a:ext cx="2957157" cy="1480546"/>
          </a:xfrm>
          <a:custGeom>
            <a:avLst/>
            <a:gdLst/>
            <a:ahLst/>
            <a:cxnLst/>
            <a:rect r="r" b="b" t="t" l="l"/>
            <a:pathLst>
              <a:path h="1480546" w="2957157">
                <a:moveTo>
                  <a:pt x="0" y="0"/>
                </a:moveTo>
                <a:lnTo>
                  <a:pt x="2957157" y="0"/>
                </a:lnTo>
                <a:lnTo>
                  <a:pt x="2957157" y="1480546"/>
                </a:lnTo>
                <a:lnTo>
                  <a:pt x="0" y="14805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83676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333" r="0" b="-8333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09688" y="389275"/>
            <a:ext cx="16668624" cy="1469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61"/>
              </a:lnSpc>
            </a:pPr>
            <a:r>
              <a:rPr lang="en-US" sz="1094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Modelagem de grafos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90759" y="3014212"/>
            <a:ext cx="3960020" cy="1356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3499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Vértices - Frases sem stopwords e com stemming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350779" y="5210175"/>
            <a:ext cx="3805161" cy="1356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3499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Arestas - Frases semanticamente relacionadas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767914" y="3014212"/>
            <a:ext cx="4962937" cy="1356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3499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Arestas ponderadas - Indice de similaridade das frases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821514" y="5434310"/>
            <a:ext cx="4437786" cy="908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3499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Score do vertice  - TextRank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5330843" y="8806454"/>
            <a:ext cx="2957157" cy="1480546"/>
          </a:xfrm>
          <a:custGeom>
            <a:avLst/>
            <a:gdLst/>
            <a:ahLst/>
            <a:cxnLst/>
            <a:rect r="r" b="b" t="t" l="l"/>
            <a:pathLst>
              <a:path h="1480546" w="2957157">
                <a:moveTo>
                  <a:pt x="0" y="0"/>
                </a:moveTo>
                <a:lnTo>
                  <a:pt x="2957157" y="0"/>
                </a:lnTo>
                <a:lnTo>
                  <a:pt x="2957157" y="1480546"/>
                </a:lnTo>
                <a:lnTo>
                  <a:pt x="0" y="14805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83676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0" y="8067949"/>
            <a:ext cx="8921107" cy="1500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20"/>
              </a:lnSpc>
            </a:pPr>
            <a:r>
              <a:rPr lang="en-US" sz="4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 implementação foi feita em matriz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333" r="0" b="-8333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94447" y="389275"/>
            <a:ext cx="11215262" cy="1469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61"/>
              </a:lnSpc>
            </a:pPr>
            <a:r>
              <a:rPr lang="en-US" sz="1094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TextRank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17465" y="2419715"/>
            <a:ext cx="17499107" cy="1010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5"/>
              </a:lnSpc>
            </a:pPr>
          </a:p>
          <a:p>
            <a:pPr algn="ctr">
              <a:lnSpc>
                <a:spcPts val="3875"/>
              </a:lnSpc>
            </a:pPr>
            <a:r>
              <a:rPr lang="en-US" b="true" sz="3799">
                <a:solidFill>
                  <a:srgbClr val="000000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Score(Vᵢ) = (1 − d) + d × Σⱼ [ Aⱼᵢ / Σₖ Aⱼₖ × score(Vⱼ) ]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0" y="5076825"/>
            <a:ext cx="14210426" cy="4780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score(Vᵢ): ‘Nível’ de importância da frase analisada;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d: fator de amortecimento;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Σⱼ: soma as contribuições de todas as frases relacionadas.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score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(Vⱼ): importância das frases vizinhas.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ⱼᵢ: força da relação entre as frases j e i.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Σₖ wⱼₖ: soma de todas as conexões da frase j.</a:t>
            </a:r>
          </a:p>
          <a:p>
            <a:pPr algn="l">
              <a:lnSpc>
                <a:spcPts val="4759"/>
              </a:lnSpc>
            </a:pPr>
          </a:p>
          <a:p>
            <a:pPr algn="l">
              <a:lnSpc>
                <a:spcPts val="4759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5336816" y="8820589"/>
            <a:ext cx="2951184" cy="1466411"/>
          </a:xfrm>
          <a:custGeom>
            <a:avLst/>
            <a:gdLst/>
            <a:ahLst/>
            <a:cxnLst/>
            <a:rect r="r" b="b" t="t" l="l"/>
            <a:pathLst>
              <a:path h="1466411" w="2951184">
                <a:moveTo>
                  <a:pt x="0" y="0"/>
                </a:moveTo>
                <a:lnTo>
                  <a:pt x="2951184" y="0"/>
                </a:lnTo>
                <a:lnTo>
                  <a:pt x="2951184" y="1466411"/>
                </a:lnTo>
                <a:lnTo>
                  <a:pt x="0" y="14664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94123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333" r="0" b="-8333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336816" y="8820589"/>
            <a:ext cx="2951184" cy="1466411"/>
          </a:xfrm>
          <a:custGeom>
            <a:avLst/>
            <a:gdLst/>
            <a:ahLst/>
            <a:cxnLst/>
            <a:rect r="r" b="b" t="t" l="l"/>
            <a:pathLst>
              <a:path h="1466411" w="2951184">
                <a:moveTo>
                  <a:pt x="0" y="0"/>
                </a:moveTo>
                <a:lnTo>
                  <a:pt x="2951184" y="0"/>
                </a:lnTo>
                <a:lnTo>
                  <a:pt x="2951184" y="1466411"/>
                </a:lnTo>
                <a:lnTo>
                  <a:pt x="0" y="14664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94123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328318" y="6320558"/>
            <a:ext cx="11631363" cy="1543799"/>
          </a:xfrm>
          <a:custGeom>
            <a:avLst/>
            <a:gdLst/>
            <a:ahLst/>
            <a:cxnLst/>
            <a:rect r="r" b="b" t="t" l="l"/>
            <a:pathLst>
              <a:path h="1543799" w="11631363">
                <a:moveTo>
                  <a:pt x="0" y="0"/>
                </a:moveTo>
                <a:lnTo>
                  <a:pt x="11631364" y="0"/>
                </a:lnTo>
                <a:lnTo>
                  <a:pt x="11631364" y="1543799"/>
                </a:lnTo>
                <a:lnTo>
                  <a:pt x="0" y="15437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375416" y="1209675"/>
            <a:ext cx="11215262" cy="4298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61"/>
              </a:lnSpc>
            </a:pPr>
            <a:r>
              <a:rPr lang="en-US" sz="10942">
                <a:solidFill>
                  <a:srgbClr val="000000"/>
                </a:solidFill>
                <a:latin typeface="Neue Machina"/>
                <a:ea typeface="Neue Machina"/>
                <a:cs typeface="Neue Machina"/>
                <a:sym typeface="Neue Machina"/>
              </a:rPr>
              <a:t>Calculo do indice de similaridade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333" r="0" b="-8333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330843" y="8806454"/>
            <a:ext cx="2957157" cy="1480546"/>
          </a:xfrm>
          <a:custGeom>
            <a:avLst/>
            <a:gdLst/>
            <a:ahLst/>
            <a:cxnLst/>
            <a:rect r="r" b="b" t="t" l="l"/>
            <a:pathLst>
              <a:path h="1480546" w="2957157">
                <a:moveTo>
                  <a:pt x="0" y="0"/>
                </a:moveTo>
                <a:lnTo>
                  <a:pt x="2957157" y="0"/>
                </a:lnTo>
                <a:lnTo>
                  <a:pt x="2957157" y="1480546"/>
                </a:lnTo>
                <a:lnTo>
                  <a:pt x="0" y="14805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83676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32706" y="379750"/>
            <a:ext cx="17022587" cy="1478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61"/>
              </a:lnSpc>
            </a:pPr>
            <a:r>
              <a:rPr lang="en-US" sz="10942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Matriz de similaridade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32706" y="2722380"/>
            <a:ext cx="10066509" cy="1853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2"/>
              </a:lnSpc>
            </a:pPr>
            <a:r>
              <a:rPr lang="en-US" sz="3600">
                <a:solidFill>
                  <a:srgbClr val="FFFFFF"/>
                </a:solidFill>
                <a:latin typeface="Neue Machina Light"/>
                <a:ea typeface="Neue Machina Light"/>
                <a:cs typeface="Neue Machina Light"/>
                <a:sym typeface="Neue Machina Light"/>
              </a:rPr>
              <a:t>Antes de criar as arestas, calculamos a similaridade entre todos os pares de frases de acordo com a quantidade de palavras em comum;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32706" y="7861554"/>
            <a:ext cx="8871257" cy="1396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2"/>
              </a:lnSpc>
            </a:pPr>
            <a:r>
              <a:rPr lang="en-US" sz="3600">
                <a:solidFill>
                  <a:srgbClr val="FFFFFF"/>
                </a:solidFill>
                <a:latin typeface="Neue Machina Light"/>
                <a:ea typeface="Neue Machina Light"/>
                <a:cs typeface="Neue Machina Light"/>
                <a:sym typeface="Neue Machina Light"/>
              </a:rPr>
              <a:t>Fazendo uma matriz simétrica NxN, em que N é o número de frases,  para guardar esses valores;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333" r="0" b="-8333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311655" y="732397"/>
            <a:ext cx="7664689" cy="1469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61"/>
              </a:lnSpc>
            </a:pPr>
            <a:r>
              <a:rPr lang="en-US" sz="1094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Heurística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78401" y="3221677"/>
            <a:ext cx="10066509" cy="146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8"/>
              </a:lnSpc>
            </a:pPr>
            <a:r>
              <a:rPr lang="en-US" sz="3743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 título tem que ser uma frase, mas não pode ser muito grande e nem muito pequena.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43350" y="6065712"/>
            <a:ext cx="8667230" cy="1694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6"/>
              </a:lnSpc>
            </a:pPr>
            <a:r>
              <a:rPr lang="en-US" sz="33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Título curto: </a:t>
            </a:r>
          </a:p>
          <a:p>
            <a:pPr algn="l" marL="712470" indent="-356235" lvl="1">
              <a:lnSpc>
                <a:spcPts val="3366"/>
              </a:lnSpc>
              <a:buFont typeface="Arial"/>
              <a:buChar char="•"/>
            </a:pPr>
            <a:r>
              <a:rPr lang="en-US" b="true" sz="33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combinar top-1 + top-2;</a:t>
            </a:r>
          </a:p>
          <a:p>
            <a:pPr algn="l" marL="712470" indent="-356235" lvl="1">
              <a:lnSpc>
                <a:spcPts val="3366"/>
              </a:lnSpc>
              <a:buFont typeface="Arial"/>
              <a:buChar char="•"/>
            </a:pPr>
            <a:r>
              <a:rPr lang="en-US" b="true" sz="33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Re-extrair candidata</a:t>
            </a:r>
          </a:p>
          <a:p>
            <a:pPr algn="l" marL="712470" indent="-356235" lvl="1">
              <a:lnSpc>
                <a:spcPts val="3366"/>
              </a:lnSpc>
              <a:buFont typeface="Arial"/>
              <a:buChar char="•"/>
            </a:pPr>
            <a:r>
              <a:rPr lang="en-US" b="true" sz="33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Mini PageRank sobre top-3 frases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4000" y="6065712"/>
            <a:ext cx="8871257" cy="2113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5"/>
              </a:lnSpc>
            </a:pPr>
            <a:r>
              <a:rPr lang="en-US" sz="32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Título extenso: </a:t>
            </a:r>
          </a:p>
          <a:p>
            <a:pPr algn="l" marL="712370" indent="-356185" lvl="1">
              <a:lnSpc>
                <a:spcPts val="3365"/>
              </a:lnSpc>
              <a:buFont typeface="Arial"/>
              <a:buChar char="•"/>
            </a:pPr>
            <a:r>
              <a:rPr lang="en-US" b="true" sz="32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truncar no 1º separadornatural: vírgula ou ";";</a:t>
            </a:r>
          </a:p>
          <a:p>
            <a:pPr algn="l" marL="712370" indent="-356185" lvl="1">
              <a:lnSpc>
                <a:spcPts val="3365"/>
              </a:lnSpc>
              <a:buFont typeface="Arial"/>
              <a:buChar char="•"/>
            </a:pPr>
            <a:r>
              <a:rPr lang="en-US" b="true" sz="32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Sub-frase extraída até a vírgula/ponto e vírgula;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174835" y="8677910"/>
            <a:ext cx="3136821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 &lt;=5 palavras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950294" y="8677910"/>
            <a:ext cx="3248978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 &gt; 20 palavras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5330843" y="8806454"/>
            <a:ext cx="2957157" cy="1480546"/>
          </a:xfrm>
          <a:custGeom>
            <a:avLst/>
            <a:gdLst/>
            <a:ahLst/>
            <a:cxnLst/>
            <a:rect r="r" b="b" t="t" l="l"/>
            <a:pathLst>
              <a:path h="1480546" w="2957157">
                <a:moveTo>
                  <a:pt x="0" y="0"/>
                </a:moveTo>
                <a:lnTo>
                  <a:pt x="2957157" y="0"/>
                </a:lnTo>
                <a:lnTo>
                  <a:pt x="2957157" y="1480546"/>
                </a:lnTo>
                <a:lnTo>
                  <a:pt x="0" y="14805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83676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333" r="0" b="-8333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336816" y="8820589"/>
            <a:ext cx="2951184" cy="1466411"/>
          </a:xfrm>
          <a:custGeom>
            <a:avLst/>
            <a:gdLst/>
            <a:ahLst/>
            <a:cxnLst/>
            <a:rect r="r" b="b" t="t" l="l"/>
            <a:pathLst>
              <a:path h="1466411" w="2951184">
                <a:moveTo>
                  <a:pt x="0" y="0"/>
                </a:moveTo>
                <a:lnTo>
                  <a:pt x="2951184" y="0"/>
                </a:lnTo>
                <a:lnTo>
                  <a:pt x="2951184" y="1466411"/>
                </a:lnTo>
                <a:lnTo>
                  <a:pt x="0" y="14664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94123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040673" y="389275"/>
            <a:ext cx="12161715" cy="1469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61"/>
              </a:lnSpc>
            </a:pPr>
            <a:r>
              <a:rPr lang="en-US" sz="1094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Como funciona?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29596" y="1783624"/>
            <a:ext cx="16189735" cy="7788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1"/>
              </a:lnSpc>
            </a:pPr>
          </a:p>
          <a:p>
            <a:pPr algn="l" marL="777138" indent="-388569" lvl="1">
              <a:lnSpc>
                <a:spcPts val="3671"/>
              </a:lnSpc>
              <a:buFont typeface="Arial"/>
              <a:buChar char="•"/>
            </a:pPr>
            <a:r>
              <a:rPr lang="en-US" b="true" sz="35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Texto → Frases → Stopwords + Stemming → Grafo de Similaridade → TextRank → Heurística → Título</a:t>
            </a:r>
          </a:p>
          <a:p>
            <a:pPr algn="l">
              <a:lnSpc>
                <a:spcPts val="3671"/>
              </a:lnSpc>
            </a:pPr>
          </a:p>
          <a:p>
            <a:pPr algn="l" marL="777138" indent="-388569" lvl="1">
              <a:lnSpc>
                <a:spcPts val="3671"/>
              </a:lnSpc>
              <a:buFont typeface="Arial"/>
              <a:buChar char="•"/>
            </a:pPr>
            <a:r>
              <a:rPr lang="en-US" b="true" sz="35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Pré-processamento — segmenta o texto em frases, remove stopwords (PT-BR via spaCy), aplica stemmer implementado manualmente</a:t>
            </a:r>
          </a:p>
          <a:p>
            <a:pPr algn="l">
              <a:lnSpc>
                <a:spcPts val="3671"/>
              </a:lnSpc>
            </a:pPr>
          </a:p>
          <a:p>
            <a:pPr algn="l" marL="777138" indent="-388569" lvl="1">
              <a:lnSpc>
                <a:spcPts val="3671"/>
              </a:lnSpc>
              <a:buFont typeface="Arial"/>
              <a:buChar char="•"/>
            </a:pPr>
            <a:r>
              <a:rPr lang="en-US" b="true" sz="35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Grafo — frases = vértices; peso da aresta = número de palavras em comum após pré-processamento</a:t>
            </a:r>
          </a:p>
          <a:p>
            <a:pPr algn="l">
              <a:lnSpc>
                <a:spcPts val="3671"/>
              </a:lnSpc>
            </a:pPr>
          </a:p>
          <a:p>
            <a:pPr algn="l" marL="777138" indent="-388569" lvl="1">
              <a:lnSpc>
                <a:spcPts val="3671"/>
              </a:lnSpc>
              <a:buFont typeface="Arial"/>
              <a:buChar char="•"/>
            </a:pPr>
            <a:r>
              <a:rPr lang="en-US" b="true" sz="35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TextRank — variante do PageRank implementada do zero que ranqueia as frases por importância estrutural</a:t>
            </a:r>
          </a:p>
          <a:p>
            <a:pPr algn="l">
              <a:lnSpc>
                <a:spcPts val="3671"/>
              </a:lnSpc>
            </a:pPr>
          </a:p>
          <a:p>
            <a:pPr algn="l" marL="777138" indent="-388569" lvl="1">
              <a:lnSpc>
                <a:spcPts val="3671"/>
              </a:lnSpc>
              <a:buFont typeface="Arial"/>
              <a:buChar char="•"/>
            </a:pPr>
            <a:r>
              <a:rPr lang="en-US" b="true" sz="35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Heurística — ajusta o comprimento do título (≤5 / 5–20 / &gt;20 palavras)</a:t>
            </a:r>
          </a:p>
          <a:p>
            <a:pPr algn="l">
              <a:lnSpc>
                <a:spcPts val="3671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333" r="0" b="-8333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330843" y="8806454"/>
            <a:ext cx="2957157" cy="1480546"/>
          </a:xfrm>
          <a:custGeom>
            <a:avLst/>
            <a:gdLst/>
            <a:ahLst/>
            <a:cxnLst/>
            <a:rect r="r" b="b" t="t" l="l"/>
            <a:pathLst>
              <a:path h="1480546" w="2957157">
                <a:moveTo>
                  <a:pt x="0" y="0"/>
                </a:moveTo>
                <a:lnTo>
                  <a:pt x="2957157" y="0"/>
                </a:lnTo>
                <a:lnTo>
                  <a:pt x="2957157" y="1480546"/>
                </a:lnTo>
                <a:lnTo>
                  <a:pt x="0" y="14805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83676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23277" y="7894919"/>
            <a:ext cx="16811172" cy="628455"/>
          </a:xfrm>
          <a:custGeom>
            <a:avLst/>
            <a:gdLst/>
            <a:ahLst/>
            <a:cxnLst/>
            <a:rect r="r" b="b" t="t" l="l"/>
            <a:pathLst>
              <a:path h="628455" w="16811172">
                <a:moveTo>
                  <a:pt x="0" y="0"/>
                </a:moveTo>
                <a:lnTo>
                  <a:pt x="16811172" y="0"/>
                </a:lnTo>
                <a:lnTo>
                  <a:pt x="16811172" y="628455"/>
                </a:lnTo>
                <a:lnTo>
                  <a:pt x="0" y="6284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00035" y="593503"/>
            <a:ext cx="17887929" cy="1259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28"/>
              </a:lnSpc>
            </a:pPr>
            <a:r>
              <a:rPr lang="en-US" sz="9243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Exemplo de entrada e saida 1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146033" y="2185926"/>
            <a:ext cx="5995933" cy="997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8"/>
              </a:lnSpc>
            </a:pPr>
            <a:r>
              <a:rPr lang="en-US" sz="3743">
                <a:solidFill>
                  <a:srgbClr val="FFFFFF"/>
                </a:solidFill>
                <a:latin typeface="Neue Machina Light"/>
                <a:ea typeface="Neue Machina Light"/>
                <a:cs typeface="Neue Machina Light"/>
                <a:sym typeface="Neue Machina Light"/>
              </a:rPr>
              <a:t>Arquivo gerado por LLM;  data/raw/llm_002.txt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19435" y="3715221"/>
            <a:ext cx="17049129" cy="3580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 Ministério da Saúde anunciou a ampliação da campanha de vacinação contra a dengue. A vacina estará disponível em postos de saúde de 50 municípios prioritários a partir de julho. O número de casos confirmados da doença já supera 1,5 milhão em 2026. Autoridades de saúde reforçam a importância da eliminação de focos do mosquito Aedes aegypti. A campanha também incluirá ações educativas nas escolas e comunidades de baixa renda.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333" r="0" b="-8333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330843" y="8806454"/>
            <a:ext cx="2957157" cy="1480546"/>
          </a:xfrm>
          <a:custGeom>
            <a:avLst/>
            <a:gdLst/>
            <a:ahLst/>
            <a:cxnLst/>
            <a:rect r="r" b="b" t="t" l="l"/>
            <a:pathLst>
              <a:path h="1480546" w="2957157">
                <a:moveTo>
                  <a:pt x="0" y="0"/>
                </a:moveTo>
                <a:lnTo>
                  <a:pt x="2957157" y="0"/>
                </a:lnTo>
                <a:lnTo>
                  <a:pt x="2957157" y="1480546"/>
                </a:lnTo>
                <a:lnTo>
                  <a:pt x="0" y="14805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83676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98118" y="7778338"/>
            <a:ext cx="15291763" cy="567018"/>
          </a:xfrm>
          <a:custGeom>
            <a:avLst/>
            <a:gdLst/>
            <a:ahLst/>
            <a:cxnLst/>
            <a:rect r="r" b="b" t="t" l="l"/>
            <a:pathLst>
              <a:path h="567018" w="15291763">
                <a:moveTo>
                  <a:pt x="0" y="0"/>
                </a:moveTo>
                <a:lnTo>
                  <a:pt x="15291764" y="0"/>
                </a:lnTo>
                <a:lnTo>
                  <a:pt x="15291764" y="567018"/>
                </a:lnTo>
                <a:lnTo>
                  <a:pt x="0" y="5670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75208" y="489663"/>
            <a:ext cx="16473008" cy="1239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28"/>
              </a:lnSpc>
            </a:pPr>
            <a:r>
              <a:rPr lang="en-US" sz="924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Exemplo de entrada e saida 2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146033" y="2185926"/>
            <a:ext cx="5995933" cy="997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8"/>
              </a:lnSpc>
            </a:pPr>
            <a:r>
              <a:rPr lang="en-US" sz="3743">
                <a:solidFill>
                  <a:srgbClr val="FFFFFF"/>
                </a:solidFill>
                <a:latin typeface="Neue Machina Light"/>
                <a:ea typeface="Neue Machina Light"/>
                <a:cs typeface="Neue Machina Light"/>
                <a:sym typeface="Neue Machina Light"/>
              </a:rPr>
              <a:t>Arquivo presente em:  data/raw/pt/ec_003.txt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52171" y="3525863"/>
            <a:ext cx="16319080" cy="3580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 desemprego no Brasil caiu para 6,8% no primeiro trimestre de 2026, menor taxa em 10 anos. O setor de serviços foi o principal gerador de vagas, com 450 mil novos postos formais. A renda média do trabalhador cresceu 3,1% acima da inflação no período. Especialistas alertam que a queda do desemprego pode pressionar salários e inflação. O governo federal atribui o resultado às políticas de incentivo ao emprego formal.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333" r="0" b="-8333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330843" y="8806454"/>
            <a:ext cx="2957157" cy="1480546"/>
          </a:xfrm>
          <a:custGeom>
            <a:avLst/>
            <a:gdLst/>
            <a:ahLst/>
            <a:cxnLst/>
            <a:rect r="r" b="b" t="t" l="l"/>
            <a:pathLst>
              <a:path h="1480546" w="2957157">
                <a:moveTo>
                  <a:pt x="0" y="0"/>
                </a:moveTo>
                <a:lnTo>
                  <a:pt x="2957157" y="0"/>
                </a:lnTo>
                <a:lnTo>
                  <a:pt x="2957157" y="1480546"/>
                </a:lnTo>
                <a:lnTo>
                  <a:pt x="0" y="14805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83676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855213" y="7156873"/>
            <a:ext cx="12577574" cy="520728"/>
          </a:xfrm>
          <a:custGeom>
            <a:avLst/>
            <a:gdLst/>
            <a:ahLst/>
            <a:cxnLst/>
            <a:rect r="r" b="b" t="t" l="l"/>
            <a:pathLst>
              <a:path h="520728" w="12577574">
                <a:moveTo>
                  <a:pt x="0" y="0"/>
                </a:moveTo>
                <a:lnTo>
                  <a:pt x="12577574" y="0"/>
                </a:lnTo>
                <a:lnTo>
                  <a:pt x="12577574" y="520727"/>
                </a:lnTo>
                <a:lnTo>
                  <a:pt x="0" y="5207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0018" y="593503"/>
            <a:ext cx="18087965" cy="1259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28"/>
              </a:lnSpc>
            </a:pPr>
            <a:r>
              <a:rPr lang="en-US" sz="9243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Exemplo de entrada e saida 3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146033" y="2185926"/>
            <a:ext cx="5995933" cy="990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8"/>
              </a:lnSpc>
            </a:pPr>
            <a:r>
              <a:rPr lang="en-US" sz="3743">
                <a:solidFill>
                  <a:srgbClr val="FFFFFF"/>
                </a:solidFill>
                <a:latin typeface="Neue Machina Light"/>
                <a:ea typeface="Neue Machina Light"/>
                <a:cs typeface="Neue Machina Light"/>
                <a:sym typeface="Neue Machina Light"/>
              </a:rPr>
              <a:t>Trecho retirado do site j</a:t>
            </a:r>
            <a:r>
              <a:rPr lang="en-US" sz="3743" u="sng">
                <a:solidFill>
                  <a:srgbClr val="FFFFFF"/>
                </a:solidFill>
                <a:latin typeface="Neue Machina Light"/>
                <a:ea typeface="Neue Machina Light"/>
                <a:cs typeface="Neue Machina Light"/>
                <a:sym typeface="Neue Machina Light"/>
                <a:hlinkClick r:id="rId5" tooltip="https://jornal.unesp.br/2026/05/13/novos-frascos-o-mesmo-odor-minerais-criticos-governanca-criminal-e-os-paradoxos-da-transicao-energetica/"/>
              </a:rPr>
              <a:t>ornal.unesp.br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0" y="3647404"/>
            <a:ext cx="18288000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b="true" sz="3399" i="true">
                <a:solidFill>
                  <a:srgbClr val="FFFFFF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“(...)dos carros elétricos aos equipamentos militares de ponta, os minerais críticos e as terras raras tomam o lugar do petróleo como recursos naturais mais valiosos. Risco é que passagem para nova economia verde reproduza antigas relações de dependência, limitando países do Sul Global ao papel de exportadores de matéria-prima.”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333" r="0" b="-8333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336816" y="8820589"/>
            <a:ext cx="2951184" cy="1466411"/>
          </a:xfrm>
          <a:custGeom>
            <a:avLst/>
            <a:gdLst/>
            <a:ahLst/>
            <a:cxnLst/>
            <a:rect r="r" b="b" t="t" l="l"/>
            <a:pathLst>
              <a:path h="1466411" w="2951184">
                <a:moveTo>
                  <a:pt x="0" y="0"/>
                </a:moveTo>
                <a:lnTo>
                  <a:pt x="2951184" y="0"/>
                </a:lnTo>
                <a:lnTo>
                  <a:pt x="2951184" y="1466411"/>
                </a:lnTo>
                <a:lnTo>
                  <a:pt x="0" y="14664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94123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099710" y="522011"/>
            <a:ext cx="14088579" cy="1469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61"/>
              </a:lnSpc>
            </a:pPr>
            <a:r>
              <a:rPr lang="en-US" sz="1094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Análise de resultados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327874" y="4005418"/>
            <a:ext cx="13632252" cy="3820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84"/>
              </a:lnSpc>
            </a:pPr>
            <a:r>
              <a:rPr lang="en-US" b="true" sz="42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Após alguns testes, observou-se que, por utilizar um rank de frases já existentes no texto, e não ter uma análise de contexto para as entradas, a condensação de um input para criação de títulos para artigos pode-se mostrar ineficiente, uma vez que a(as) frase(s) podem não expressar a devida ideia central.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333" r="0" b="-8333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336816" y="8820589"/>
            <a:ext cx="2951184" cy="1466411"/>
          </a:xfrm>
          <a:custGeom>
            <a:avLst/>
            <a:gdLst/>
            <a:ahLst/>
            <a:cxnLst/>
            <a:rect r="r" b="b" t="t" l="l"/>
            <a:pathLst>
              <a:path h="1466411" w="2951184">
                <a:moveTo>
                  <a:pt x="0" y="0"/>
                </a:moveTo>
                <a:lnTo>
                  <a:pt x="2951184" y="0"/>
                </a:lnTo>
                <a:lnTo>
                  <a:pt x="2951184" y="1466411"/>
                </a:lnTo>
                <a:lnTo>
                  <a:pt x="0" y="14664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94123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285628" y="389275"/>
            <a:ext cx="7716744" cy="1469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61"/>
              </a:lnSpc>
            </a:pPr>
            <a:r>
              <a:rPr lang="en-US" sz="1094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Uso de LLM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841035"/>
            <a:ext cx="8092830" cy="2699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549" indent="-377774" lvl="1">
              <a:lnSpc>
                <a:spcPts val="3569"/>
              </a:lnSpc>
              <a:buFont typeface="Arial"/>
              <a:buChar char="•"/>
            </a:pPr>
            <a:r>
              <a:rPr lang="en-US" b="true" sz="34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Geração de arquivos de input;</a:t>
            </a:r>
          </a:p>
          <a:p>
            <a:pPr algn="l">
              <a:lnSpc>
                <a:spcPts val="3569"/>
              </a:lnSpc>
            </a:pPr>
          </a:p>
          <a:p>
            <a:pPr algn="l" marL="755549" indent="-377774" lvl="1">
              <a:lnSpc>
                <a:spcPts val="3569"/>
              </a:lnSpc>
              <a:buFont typeface="Arial"/>
              <a:buChar char="•"/>
            </a:pPr>
            <a:r>
              <a:rPr lang="en-US" b="true" sz="34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Planejamento das etapas de desenvolvimento;</a:t>
            </a:r>
          </a:p>
          <a:p>
            <a:pPr algn="l">
              <a:lnSpc>
                <a:spcPts val="3569"/>
              </a:lnSpc>
            </a:pPr>
          </a:p>
          <a:p>
            <a:pPr algn="l" marL="755549" indent="-377774" lvl="1">
              <a:lnSpc>
                <a:spcPts val="3569"/>
              </a:lnSpc>
              <a:buFont typeface="Arial"/>
              <a:buChar char="•"/>
            </a:pPr>
            <a:r>
              <a:rPr lang="en-US" b="true" sz="34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Auxiliar nos códigos de teste; 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8518" r="0" b="-6851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924173" y="4504075"/>
            <a:ext cx="10439654" cy="1469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61"/>
              </a:lnSpc>
            </a:pPr>
            <a:r>
              <a:rPr lang="en-US" sz="1094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Muito obrigado!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5330843" y="8806454"/>
            <a:ext cx="2957157" cy="1480546"/>
          </a:xfrm>
          <a:custGeom>
            <a:avLst/>
            <a:gdLst/>
            <a:ahLst/>
            <a:cxnLst/>
            <a:rect r="r" b="b" t="t" l="l"/>
            <a:pathLst>
              <a:path h="1480546" w="2957157">
                <a:moveTo>
                  <a:pt x="0" y="0"/>
                </a:moveTo>
                <a:lnTo>
                  <a:pt x="2957157" y="0"/>
                </a:lnTo>
                <a:lnTo>
                  <a:pt x="2957157" y="1480546"/>
                </a:lnTo>
                <a:lnTo>
                  <a:pt x="0" y="14805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83676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DAHNIc5Bd0g</dc:identifier>
  <dcterms:modified xsi:type="dcterms:W3CDTF">2011-08-01T06:04:30Z</dcterms:modified>
  <cp:revision>1</cp:revision>
  <dc:title>Geração de títulos  - Grupo 4</dc:title>
</cp:coreProperties>
</file>